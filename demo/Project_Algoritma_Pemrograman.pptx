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37160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PROJECT KELOMPOK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Algoritma Komputasional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dengan R dan 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Algoritma dan Pemrograman  |  Kelas A  |  Semester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76656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389120"/>
            <a:ext cx="6309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Dosen Pengampu  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Dosen]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Kelompok  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1, Nama 2, Nama 3, Nama 4]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 : 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Statistika - Tahun Akademik 2025/2026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 dan tujuan project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69280" cy="4480560"/>
          </a:xfrm>
          <a:prstGeom prst="roundRect">
            <a:avLst>
              <a:gd name="adj" fmla="val 1633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5074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dan pemrograman merupakan fondasi penting bagi mahasiswa Statistika dalam menyelesaikan masalah komputasional secara sistematis.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 mengintegrasikan konsep variabel, percabangan, fungsi, dan struktur data ke dalam enam studi kasus nyata.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soal diselesaikan menggunakan dua bahasa pemrograman, yaitu R dan Python, untuk membandingkan logika dan sintaks.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Project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20840" y="2423160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variabel, tipe data, operator, percabangan, fungsi, dan struktur data dalam kasus nyata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algoritma dalam bentuk pseudocode dan flowchart yang runtut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struktur logika program antara R dan Python pada kasus yang sama</a:t>
            </a:r>
            <a:endParaRPr lang="en-US" sz="1450" dirty="0"/>
          </a:p>
          <a:p>
            <a:pPr marL="342900" indent="-342900">
              <a:buSzPct val="100000"/>
              <a:buChar char="▪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Melakukan validasi input dan menguji program dengan berbagai skenario data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Ruang Lingkup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Enam program berbasis studi kasus yang dikerjakan kelompok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icons/p1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568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teks: menghitung jumlah kata dan kalimat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icons/p2_st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19568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17720" y="2514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Manipulasi string dengan karakter khusus (escape character)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0" y="16002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58200" y="1828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icons/p3_qu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216" y="195681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9720" y="1801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2514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persamaan kuadrat (real dan imajiner)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icons/p4_ni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24281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87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77240" y="4800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tanggal lahir ASN dari NIP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89120" y="38862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icons/p5_clus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736" y="424281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087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5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617720" y="4800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cluster 3 dimensi berbasis jarak Euclidean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229600" y="3886200"/>
            <a:ext cx="3611880" cy="2011680"/>
          </a:xfrm>
          <a:prstGeom prst="roundRect">
            <a:avLst>
              <a:gd name="adj" fmla="val 363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58200" y="411480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icons/p6_interva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216" y="424281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89720" y="40873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6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8458200" y="48006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konfidensi proporsi populasi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1: Analisis Teks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jumlah kata dan jumlah kalimat dari sebuah teks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1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4864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- Proses -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bebas yang diketikkan pengguna, diasumsikan tanda titik hanya muncul di akhir kalimat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teks berdasarkan spasi untuk menghitung kata, dan berdasarkan tanda titik untuk menghitung kalimat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kata dan jumlah kalimat dari teks yang dimasukkan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7720" y="1600200"/>
            <a:ext cx="699516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Kunci (R)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148840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teks &lt;- readline("Masukkan teks: 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jumlah_kata &lt;- length(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strsplit(teks, "[ ]+")[[1]])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jumlah_kalimat &lt;- length(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strsplit(teks, "[.]")[[1]]) - 1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cat("Kalimat:", jumlah_kalimat,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"Kata:", jumlah_kata)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4800600"/>
            <a:ext cx="69951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4965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Implementasi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5349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Pengurangan -1 pada jumlah kalimat dilakukan karena strsplit menghasilkan satu elemen kosong tambahan setelah tanda titik terakhir.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2: String Kalimat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objek string K1-K4 yang memuat tanda kutip dan karakter khusus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2_st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4864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- Proses -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input dari pengguna, keempat string didefinisikan langsung sebagai konstanta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escape character (backslash) agar tanda kutip dapat dicetak di dalam string tanpa mengakhiri string lebih awal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baris kalimat yang dicetak persis sesuai format pada soal, termasuk tanda kutip dan nomor surat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7720" y="1600200"/>
            <a:ext cx="699516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Kunci (R)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148840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K1 &lt;- "Saya tak 'kan menyerah."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K2 &lt;- "Ia berkata, \"Aku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menyayangimu.\""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K4 &lt;- "Surat keputusan itu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bernomor 62/UN.34/19/2023."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cat(K1); cat(K2)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4800600"/>
            <a:ext cx="69951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4965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Implementasi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5349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kutip ganda di dalam string yang juga diapit kutip ganda wajib menggunakan escape character (\") agar tidak dianggap sebagai akhir string oleh R.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3: Akar Persamaan Kuadrat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akar real atau imajiner dari ax² + bx + c = 0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3_qu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4864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- Proses -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koefisien persamaan kuadrat, yaitu a, b, dan c, dibaca sebagai bilangan numerik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diskriminan (b² - 4ac), lalu menentukan jenis akar berdasarkan tanda diskriminan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akar real berbeda, satu akar real kembar, atau pesan bahwa persamaan hanya memiliki akar imajiner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7720" y="1600200"/>
            <a:ext cx="699516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Kunci (R)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148840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diskriminan &lt;- b^2 - 4*a*c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(diskriminan &gt; 0)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x1 &lt;- (-b+sqrt(diskriminan))/(2*a)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x2 &lt;- (-b-sqrt(diskriminan))/(2*a)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if (diskriminan == 0)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 &lt;- -b / (2*a)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cat("Akar imajiner")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4800600"/>
            <a:ext cx="69951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4965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Implementasi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5349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real ditampilkan dalam tiga angka desimal menggunakan sprintf("%.3f", x) sesuai ketentuan soal.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4: Tanggal Lahir ASN dari NIP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tahun, bulan, dan tanggal lahir dari 8 digit pertama NIP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4_n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4864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- Proses -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 ASN sepanjang 18 digit dalam bentuk string, contoh: 199301212019031010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8 digit pertama NIP menjadi tahun (digit 1-4), bulan (digit 5-6), dan tanggal (digit 7-8), lalu mengonversi angka bulan menjadi nama bulan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 lahir ASN dalam format lengkap, contoh: 21 Januari 1993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7720" y="1600200"/>
            <a:ext cx="699516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Kunci (R)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148840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cek_nip &lt;- function(nip)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tahun &lt;- substr(nip, 1, 4)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bulan &lt;- substr(nip, 5, 6)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tanggal &lt;- substr(nip, 7, 8)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(bulan == "01")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nama_bulan &lt;- "Januari"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(bulan == "02")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nama_bulan &lt;- "Februari"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# dst sampai "12"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4800600"/>
            <a:ext cx="69951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4965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Implementasi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5349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dibandingkan sebagai string ("01", "02", ...) sehingga tidak memerlukan konversi ke tipe integer dan menghindari error nilai NA.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5: Klasifikasi Cluster 3 Dimensi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cluster terdekat (A, B, atau C) berdasarkan jarak Euclidean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5_clu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4864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- Proses -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Koordinat titik U berupa tiga elemen (x1, x2, x3) yang dinyatakan sebagai tuple/vector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jarak Euclidean dari titik U ke pusat cluster A(2,1,3), B(1,-4,6), dan C(-2,3,-2) menggunakan fungsi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cluster (A, B, atau C) yang paling dekat dengan titik U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7720" y="1600200"/>
            <a:ext cx="699516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Kunci (R)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148840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klasifikasi &lt;- function(x1,x2,x3)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A&lt;-c(2,1,3); B&lt;-c(1,-4,6); C&lt;-c(-2,3,-2)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u&lt;-c(x1,x2,x3)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dA&lt;-sqrt(sum((u-A)^2))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dB&lt;-sqrt(sum((u-B)^2))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dC&lt;-sqrt(sum((u-C)^2))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(dA&lt;dB &amp;&amp; dA&lt;dC) cluster&lt;-"A"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(dB&lt;dA &amp;&amp; dB&lt;dC) cluster&lt;-"B"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cluster&lt;-"C"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cat("Cluster:", cluster)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4800600"/>
            <a:ext cx="69951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4965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Implementasi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5349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menggunakan fungsi sesuai ketentuan modul. Kondisi seri (jarak sama ke dua cluster) ditangani sebagai kasus khusus tambahan.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6: Interval Konfidensi Proporsi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interval konfidensi (1-α) untuk proporsi populasi 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27080" y="411480"/>
            <a:ext cx="685800" cy="6858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icons/p6_inter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54864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3931920" cy="4434840"/>
          </a:xfrm>
          <a:prstGeom prst="roundRect">
            <a:avLst>
              <a:gd name="adj" fmla="val 186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- Proses - Output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633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sampel p_hat, ukuran sampel n, dan tingkat signifikansi alpha (0,05 atau 0,10)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3776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p_hat berada di rentang 0-1, menentukan nilai z berdasarkan alpha, lalu menghitung margin of error dan batas interval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663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49194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konfidensi dalam bentuk batas_bawah &lt; p &lt; batas_atas, atau pesan kesalahan jika input tidak valid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617720" y="1600200"/>
            <a:ext cx="6995160" cy="3063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Logika Kunci (R)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92040" y="2148840"/>
            <a:ext cx="6446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interval &lt;- function(p_hat,n,alpha){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(p_hat&lt;0 || p_hat&gt;1)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cat("Error: proporsi 0-1")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return()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(alpha==0.10) z&lt;-1.645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(alpha==0.05) z&lt;-1.96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moe&lt;-z*sqrt(p_hat*(1-p_hat)/n)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cat(p_hat-moe,"&lt;p&lt;",p_hat+moe)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4800600"/>
            <a:ext cx="699516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icons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98348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49240" y="4965192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 Implementasi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46320" y="5349240"/>
            <a:ext cx="6492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proporsi dan alpha menggunakan return() agar program berhenti lebih awal sebelum melakukan perhitungan dengan nilai yang tidak valid.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 Representatif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4: Tanggal Lahir ASN dari NIP (alur percabangan)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7440" y="1600200"/>
            <a:ext cx="182880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16002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21031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2286000"/>
            <a:ext cx="237744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NIP ASN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91840" y="27889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20240" y="2971800"/>
            <a:ext cx="2743200" cy="59436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971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NIP menjadi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tahun, bulan, tanggal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356616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103120" y="3749040"/>
            <a:ext cx="2377440" cy="777240"/>
          </a:xfrm>
          <a:prstGeom prst="diamond">
            <a:avLst/>
          </a:prstGeom>
          <a:solidFill>
            <a:srgbClr val="F9E795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37490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== "01" ?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s.d. "12"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452628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03120" y="4709160"/>
            <a:ext cx="237744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2103120" y="4709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tanggal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nama_bulan tahun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291840" y="53035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77440" y="5486400"/>
            <a:ext cx="182880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0" y="5486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80560" y="4137660"/>
            <a:ext cx="9144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26280" y="3840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3840480"/>
            <a:ext cx="1463040" cy="59436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8404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nama_bulan &lt;-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"Januari" dst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874520" y="4526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1600200"/>
            <a:ext cx="4297680" cy="4434840"/>
          </a:xfrm>
          <a:prstGeom prst="roundRect">
            <a:avLst>
              <a:gd name="adj" fmla="val 1702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352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Keterangan Simbol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635240" y="2377440"/>
            <a:ext cx="3703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 (Start/End)  :  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Menandai awal dan akhir program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Persegi (Input/Output)  :  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NIP dan menampilkan hasil tanggal lahir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Persegi Rounded (Proses)  :  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Memisahkan NIP menjadi tahun, bulan, dan tanggal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Belah Ketupat (Percabangan)  :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Mengecek nilai bulan satu per satu (01 sampai 12) untuk menentukan nama bulan yang sesuai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Perbandingan Sintaks R dan Python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Program 5: Klasifikasi Cluster 3 Dimensi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icons/rl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klasifikasi &lt;- function(x1,x2,x3) {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 &lt;- c(2, 1, 3)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 &lt;- c(x1, x2, x3)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 &lt;- sqrt(sum((u-A)^2))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(dA &lt; dB &amp;&amp; dA &lt; dC) {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cluster &lt;- "A"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if (...) {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cluster &lt;- "B"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else {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cluster &lt;- "C"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cat("Cluster:", cluster)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486400" cy="4389120"/>
          </a:xfrm>
          <a:prstGeom prst="roundRect">
            <a:avLst>
              <a:gd name="adj" fmla="val 1667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icons/py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32320" y="1828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537960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klasifikasi(x1, x2, x3):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= (2, 1, 3)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 = (x1, x2, x3)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 = math.sqrt(sum(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(u[i]-A[i])**2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i in range(3)))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 &lt; dB and dA &lt; dC: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cluster = "A"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...: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cluster = "B"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cluster = "C"</a:t>
            </a:r>
            <a:endParaRPr lang="en-US" sz="1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print("Cluster:", cluster)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61264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4F8FB"/>
          </a:solidFill>
          <a:ln/>
        </p:spPr>
      </p:sp>
      <p:sp>
        <p:nvSpPr>
          <p:cNvPr id="13" name="Text 9"/>
          <p:cNvSpPr/>
          <p:nvPr/>
        </p:nvSpPr>
        <p:spPr>
          <a:xfrm>
            <a:off x="822960" y="6126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kedua program identik: hitung jarak ke tiap pusat cluster, lalu bandingkan dengan percabangan. Perbedaan utama pada sintaks fungsi, struktur data, dan penulisan if-elif-else.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 Pengujian Program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skenario uji untuk Program 4 dan Program 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4: Tanggal Lahir ASN dari NIP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486400" cy="1645920"/>
        </p:xfrm>
        <a:graphic>
          <a:graphicData uri="http://schemas.openxmlformats.org/drawingml/2006/table">
            <a:tbl>
              <a:tblPr/>
              <a:tblGrid>
                <a:gridCol w="548640"/>
                <a:gridCol w="2103120"/>
                <a:gridCol w="2194560"/>
                <a:gridCol w="640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(NIP)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Diharapkan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199301212019031010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Januari 1993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198512252010071025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Desember 1985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199002132015133099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Bulan tidak valid (bulan=13)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6: Interval Konfidensi Proporsi</a:t>
            </a:r>
            <a:endParaRPr lang="en-US" sz="16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80560"/>
          <a:ext cx="5486400" cy="1645920"/>
        </p:xfrm>
        <a:graphic>
          <a:graphicData uri="http://schemas.openxmlformats.org/drawingml/2006/table">
            <a:tbl>
              <a:tblPr/>
              <a:tblGrid>
                <a:gridCol w="548640"/>
                <a:gridCol w="2103120"/>
                <a:gridCol w="2194560"/>
                <a:gridCol w="6400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(p_hat, n, alpha)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Diharapkan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0.6, 100, 0.05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0.5042 &lt; p &lt; 0.6958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-0.3, 100, 0.05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proporsi harus 0-1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0.6, 100, 0.01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Error: alpha harus 0.05/0.10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16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0" descr="icons/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7830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69480" y="1783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 Pengujian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720840" y="2423160"/>
            <a:ext cx="4617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program diuji minimal 3 skenario pada R dan 3 skenario pada Python (kecuali Program 2)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mencakup input normal dan input tidak valid atau kondisi khusus, contohnya NIP dengan bulan di luar 01-12 atau proporsi di luar rentang 0-1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pengujian dicocokkan antara output program R dan Python untuk memastikan logika keduanya setara</a:t>
            </a:r>
            <a:endParaRPr lang="en-US" sz="1300" dirty="0"/>
          </a:p>
          <a:p>
            <a:pPr marL="342900" indent="-342900">
              <a:buSzPct val="100000"/>
              <a:buChar char="▪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hasil running didokumentasikan dalam bentuk screenshot pada laporan akhir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Kendala dan Solusi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Permasalahan yang ditemui selama pengerjaan project dan cara mengatasinya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20240" y="18562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"missing value where TRUE/FALSE needed" saat mengonversi bulan dari NIP menggunakan as.integer()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244144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Bulan dibandingkan langsung sebagai string ("01", "02", dst) tanpa konversi ke integer, sehingga menghindari nilai NA pada percabangan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61188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11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920240" y="350215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5 dan 6 awalnya tidak berhenti saat input tidak valid dan tetap melanjutkan perhitungan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20240" y="408736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Menambahkan return() pada blok validasi sehingga function berhenti lebih awal sebelum proses perhitungan dijalankan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5780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920240" y="514807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Kendala: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sintaks antara R dan Python untuk struktur data tuple, terutama pada Program 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5733288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pada Python direpresentasikan sebagai vector c() pada R, dengan logika pengaksesan elemen yang disesuaikan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Tugas Kelompok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setiap anggota dalam pengerjaan project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56616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5943600"/>
                <a:gridCol w="109728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Anggota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Tugas yang Dikerjakan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Kontribusi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[Nama Anggota 1]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[NIM]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1 dan 2 (analisis teks, string), penyusunan BAB I dan II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[100%]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[Nama Anggota 2]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[NIM]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3 dan 4 (akar kuadrat, NIP ASN), flowchart keenam program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[100%]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[Nama Anggota 3]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[NIM]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5 (klasifikasi cluster), tabel pengujian, dokumentasi GitHub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[100%]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[Nama Anggota 4]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[NIM]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6 (interval konfidensi), penyusunan slide presentasi dan video demo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[100%]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4F8FB"/>
          </a:solidFill>
          <a:ln/>
        </p:spPr>
      </p:sp>
      <p:pic>
        <p:nvPicPr>
          <p:cNvPr id="6" name="Image 0" descr="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824728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5623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anggota wajib memahami logika seluruh program dan dapat menjelaskan pseudocode, flowchart, serta kode R dan Python saat presentasi, sesuai ketentuan modul project.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Penutup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64592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6" name="Image 0" descr="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45920" y="2377440"/>
            <a:ext cx="5669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Keenam program berhasil diimplementasikan dalam R dan Python dengan logika yang setara, meskipun terdapat perbedaan sintaks pada struktur data, fungsi, dan percabangan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input dan penanganan kondisi khusus (seperti bulan tidak valid atau proporsi di luar rentang 0-1) berhasil ditangani pada Program 4 dan Program 6</a:t>
            </a:r>
            <a:endParaRPr lang="en-US" sz="1350" dirty="0"/>
          </a:p>
          <a:p>
            <a:pPr marL="342900" indent="-342900">
              <a:buSzPct val="100000"/>
              <a:buChar char="▪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fungsi pada Program 5 dan 6 membantu modularisasi kode sehingga lebih mudah diuji dan dikembangkan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680960" y="164592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028090"/>
          </a:solidFill>
          <a:ln/>
        </p:spPr>
      </p:sp>
      <p:pic>
        <p:nvPicPr>
          <p:cNvPr id="10" name="Image 1" descr="icons/bulb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50392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 Pengembangan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955280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dapat dikembangkan dengan menambahkan validasi panjang NIP, antarmuka grafis sederhana (GUI), serta visualisasi posisi titik dan cluster dalam ruang 3 dimensi.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955280" y="3703320"/>
            <a:ext cx="33832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55280" y="39319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icons/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0233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58200" y="38862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GitHub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[link-repository-github]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[link-video-demo]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822960" y="6126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Algoritma dan Pemrograman - Kelas A</dc:title>
  <dc:subject>PptxGenJS Presentation</dc:subject>
  <dc:creator>Kelompok Algoritma dan Pemrograman</dc:creator>
  <cp:lastModifiedBy>Kelompok Algoritma dan Pemrograman</cp:lastModifiedBy>
  <cp:revision>1</cp:revision>
  <dcterms:created xsi:type="dcterms:W3CDTF">2026-06-15T08:00:37Z</dcterms:created>
  <dcterms:modified xsi:type="dcterms:W3CDTF">2026-06-15T08:00:37Z</dcterms:modified>
</cp:coreProperties>
</file>